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FE3E0"/>
                </a:solidFill>
                <a:latin typeface="Segoe UI"/>
              </a:rPr>
              <a:t>NON-PROFIT EVENT MANAGEMENT · FIRST MODULE: MEDICAL 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603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FFFF"/>
                </a:solidFill>
                <a:latin typeface="Segoe UI"/>
              </a:rPr>
              <a:t>The dcica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947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E7F3F1"/>
                </a:solidFill>
                <a:latin typeface="Segoe UI"/>
              </a:rPr>
              <a:t>One phone-first system for registration, check-in, patient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 i="0">
                <a:solidFill>
                  <a:srgbClr val="E7F3F1"/>
                </a:solidFill>
                <a:latin typeface="Segoe UI"/>
              </a:rPr>
              <a:t>flow, payments, and volunteers — replacing the forms-and-spreadsheets stack.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BFE3E0"/>
                </a:solidFill>
                <a:latin typeface="Segoe UI"/>
              </a:rPr>
              <a:t>Committee demo · working software, real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WHY WE BUILT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From forms &amp; spreadsheets to one live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Today's pain.</a:t>
            </a:r>
            <a:r>
              <a:rPr sz="1500" b="0">
                <a:solidFill>
                  <a:srgbClr val="5B6666"/>
                </a:solidFill>
                <a:latin typeface="Segoe UI"/>
              </a:rPr>
              <a:t>  Registration in Google Forms, payments tracked by hand, day-of routing on paper, volunteers in email threads.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One system, camp to discharge.</a:t>
            </a:r>
            <a:r>
              <a:rPr sz="1500" b="0">
                <a:solidFill>
                  <a:srgbClr val="5B6666"/>
                </a:solidFill>
                <a:latin typeface="Segoe UI"/>
              </a:rPr>
              <a:t>  Register → pay → QR badge → check-in → stations → labs — all connected.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Phone-first, no app to install.</a:t>
            </a:r>
            <a:r>
              <a:rPr sz="1500" b="0">
                <a:solidFill>
                  <a:srgbClr val="5B6666"/>
                </a:solidFill>
                <a:latin typeface="Segoe UI"/>
              </a:rPr>
              <a:t>  Every volunteer screen works on a 6” phone. Tablets just show it larger.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Built for 300–500 patients in a half-day.</a:t>
            </a:r>
            <a:r>
              <a:rPr sz="1500" b="0">
                <a:solidFill>
                  <a:srgbClr val="5B6666"/>
                </a:solidFill>
                <a:latin typeface="Segoe UI"/>
              </a:rPr>
              <a:t>  Pre-register online (80%) and walk-in on-site (20%) in the same flow.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Privacy by design.</a:t>
            </a:r>
            <a:r>
              <a:rPr sz="1500" b="0">
                <a:solidFill>
                  <a:srgbClr val="5B6666"/>
                </a:solidFill>
                <a:latin typeface="Segoe UI"/>
              </a:rPr>
              <a:t>  No medical records ever stored. Patient data is purged after each camp.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508760"/>
            <a:ext cx="4983480" cy="4617720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37960" y="1508760"/>
            <a:ext cx="109728" cy="461772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7373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WHAT THE CAMP DAY LOOKS LIVE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240280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D6E6E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04872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01F"/>
                </a:solidFill>
                <a:latin typeface="Segoe UI"/>
              </a:rPr>
              <a:t>modules live 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218688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D6E6E"/>
                </a:solidFill>
                <a:latin typeface="Segoe U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80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01F"/>
                </a:solidFill>
                <a:latin typeface="Segoe UI"/>
              </a:rPr>
              <a:t>role-based access levels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197096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D6E6E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361688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01F"/>
                </a:solidFill>
                <a:latin typeface="Segoe UI"/>
              </a:rPr>
              <a:t>payment paths — Stripe + cash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175504"/>
            <a:ext cx="1280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0D6E6E"/>
                </a:solidFill>
                <a:latin typeface="Segoe U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340096"/>
            <a:ext cx="3108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01F"/>
                </a:solidFill>
                <a:latin typeface="Segoe UI"/>
              </a:rPr>
              <a:t>medical records stored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The patient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192627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10609" y="2542032"/>
            <a:ext cx="585216" cy="585216"/>
          </a:xfrm>
          <a:prstGeom prst="ellipse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218688"/>
            <a:ext cx="17433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01F"/>
                </a:solidFill>
                <a:latin typeface="Segoe UI"/>
              </a:rPr>
              <a:t>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657600"/>
            <a:ext cx="17433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66"/>
                </a:solidFill>
                <a:latin typeface="Segoe UI"/>
              </a:rPr>
              <a:t>Online or walk-in.
Pay by card or cash.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93787" y="3182112"/>
            <a:ext cx="265176" cy="219456"/>
          </a:xfrm>
          <a:prstGeom prst="rightArrow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6395" y="2286000"/>
            <a:ext cx="192627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6924" y="2542032"/>
            <a:ext cx="585216" cy="585216"/>
          </a:xfrm>
          <a:prstGeom prst="ellipse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7835" y="3218688"/>
            <a:ext cx="17433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01F"/>
                </a:solidFill>
                <a:latin typeface="Segoe UI"/>
              </a:rPr>
              <a:t>Check-In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7835" y="3657600"/>
            <a:ext cx="17433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66"/>
                </a:solidFill>
                <a:latin typeface="Segoe UI"/>
              </a:rPr>
              <a:t>Scan QR badge.
Sign waiver. Print badge.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40102" y="3182112"/>
            <a:ext cx="265176" cy="219456"/>
          </a:xfrm>
          <a:prstGeom prst="rightArrow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32710" y="2286000"/>
            <a:ext cx="192627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03239" y="2542032"/>
            <a:ext cx="585216" cy="585216"/>
          </a:xfrm>
          <a:prstGeom prst="ellipse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4150" y="3218688"/>
            <a:ext cx="17433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01F"/>
                </a:solidFill>
                <a:latin typeface="Segoe UI"/>
              </a:rPr>
              <a:t>Vitals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24150" y="3657600"/>
            <a:ext cx="17433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66"/>
                </a:solidFill>
                <a:latin typeface="Segoe UI"/>
              </a:rPr>
              <a:t>Queue in, queue out.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417" y="3182112"/>
            <a:ext cx="265176" cy="219456"/>
          </a:xfrm>
          <a:prstGeom prst="rightArrow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79025" y="2286000"/>
            <a:ext cx="192627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49554" y="2542032"/>
            <a:ext cx="585216" cy="585216"/>
          </a:xfrm>
          <a:prstGeom prst="ellipse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465" y="3218688"/>
            <a:ext cx="17433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01F"/>
                </a:solidFill>
                <a:latin typeface="Segoe UI"/>
              </a:rPr>
              <a:t>Doctor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0465" y="3657600"/>
            <a:ext cx="17433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66"/>
                </a:solidFill>
                <a:latin typeface="Segoe UI"/>
              </a:rPr>
              <a:t>Consult — can add
services on the spot.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332732" y="3182112"/>
            <a:ext cx="265176" cy="219456"/>
          </a:xfrm>
          <a:prstGeom prst="rightArrow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25340" y="2286000"/>
            <a:ext cx="1926275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95869" y="2542032"/>
            <a:ext cx="585216" cy="585216"/>
          </a:xfrm>
          <a:prstGeom prst="ellipse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6780" y="3218688"/>
            <a:ext cx="17433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201F"/>
                </a:solidFill>
                <a:latin typeface="Segoe UI"/>
              </a:rPr>
              <a:t>Labs / Vision
/ Dental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6780" y="3657600"/>
            <a:ext cx="17433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666"/>
                </a:solidFill>
                <a:latin typeface="Segoe UI"/>
              </a:rPr>
              <a:t>Routed by the
services they paid for.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7091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16201F"/>
                </a:solidFill>
                <a:latin typeface="Segoe UI"/>
              </a:rPr>
              <a:t>If a doctor adds a paid service mid-visit, the patient is flagged </a:t>
            </a:r>
            <a:r>
              <a:rPr sz="1500" b="1" i="0">
                <a:solidFill>
                  <a:srgbClr val="B47E0B"/>
                </a:solidFill>
                <a:latin typeface="Segoe UI"/>
              </a:rPr>
              <a:t>needs payment</a:t>
            </a:r>
            <a:r>
              <a:rPr sz="1500" b="0" i="0">
                <a:solidFill>
                  <a:srgbClr val="16201F"/>
                </a:solidFill>
                <a:latin typeface="Segoe UI"/>
              </a:rPr>
              <a:t>, sent to the desk, then routed 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349240"/>
            <a:ext cx="10908792" cy="822960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458968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94F4F"/>
                </a:solidFill>
                <a:latin typeface="Segoe UI"/>
              </a:rPr>
              <a:t>Every patient carries a printed badge: QR code + color-coded service dots + a station checklist.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What's built — and what's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4</a:t>
            </a:r>
          </a:p>
        </p:txBody>
      </p:sp>
      <p:pic>
        <p:nvPicPr>
          <p:cNvPr id="9" name="Picture 8" descr="00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59" y="1417320"/>
            <a:ext cx="4695721" cy="475488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7040880" y="16002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Live now (5).</a:t>
            </a:r>
            <a:r>
              <a:rPr sz="1500" b="0">
                <a:solidFill>
                  <a:srgbClr val="5B6666"/>
                </a:solidFill>
                <a:latin typeface="Segoe UI"/>
              </a:rPr>
              <a:t>  Registration, Check-In &amp; Badge, Station Queue, Coordinator Dashboard, Volunteer Module.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Coming next (4).</a:t>
            </a:r>
            <a:r>
              <a:rPr sz="1500" b="0">
                <a:solidFill>
                  <a:srgbClr val="5B6666"/>
                </a:solidFill>
                <a:latin typeface="Segoe UI"/>
              </a:rPr>
              <a:t>  Supply Calculator, Operations Checklist, Lab Tracking &amp; Patient Portal, Venue Config.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The core flow is done.</a:t>
            </a:r>
            <a:r>
              <a:rPr sz="1500" b="0">
                <a:solidFill>
                  <a:srgbClr val="5B6666"/>
                </a:solidFill>
                <a:latin typeface="Segoe UI"/>
              </a:rPr>
              <a:t>  Everything needed to run camp day end-to-end is working today.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Registration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5</a:t>
            </a:r>
          </a:p>
        </p:txBody>
      </p:sp>
      <p:pic>
        <p:nvPicPr>
          <p:cNvPr id="9" name="Picture 8" descr="01-regi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564660" cy="489204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754880" y="1554480"/>
            <a:ext cx="67665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4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One registrant, many attendees.</a:t>
            </a:r>
            <a:r>
              <a:rPr sz="1450" b="0">
                <a:solidFill>
                  <a:srgbClr val="5B6666"/>
                </a:solidFill>
                <a:latin typeface="Segoe UI"/>
              </a:rPr>
              <a:t>  Add a row per family member; each gets their own badge.</a:t>
            </a:r>
          </a:p>
          <a:p>
            <a:pPr>
              <a:lnSpc>
                <a:spcPct val="102000"/>
              </a:lnSpc>
              <a:spcAft>
                <a:spcPts val="14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Pick paid services live.</a:t>
            </a:r>
            <a:r>
              <a:rPr sz="1450" b="0">
                <a:solidFill>
                  <a:srgbClr val="5B6666"/>
                </a:solidFill>
                <a:latin typeface="Segoe UI"/>
              </a:rPr>
              <a:t>  Color-coded menu, sold-out items disabled, total updates as you tap.</a:t>
            </a:r>
          </a:p>
          <a:p>
            <a:pPr>
              <a:lnSpc>
                <a:spcPct val="102000"/>
              </a:lnSpc>
              <a:spcAft>
                <a:spcPts val="14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Capacity caps enforced.</a:t>
            </a:r>
            <a:r>
              <a:rPr sz="1450" b="0">
                <a:solidFill>
                  <a:srgbClr val="5B6666"/>
                </a:solidFill>
                <a:latin typeface="Segoe UI"/>
              </a:rPr>
              <a:t>  Registration stops selling a service once it hits the camp's cap.</a:t>
            </a:r>
          </a:p>
          <a:p>
            <a:pPr>
              <a:lnSpc>
                <a:spcPct val="102000"/>
              </a:lnSpc>
              <a:spcAft>
                <a:spcPts val="14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Address validation built in.</a:t>
            </a:r>
            <a:r>
              <a:rPr sz="1450" b="0">
                <a:solidFill>
                  <a:srgbClr val="5B6666"/>
                </a:solidFill>
                <a:latin typeface="Segoe UI"/>
              </a:rPr>
              <a:t>  Suggests a standardized mailing address for lab results — accept or keep your own.</a:t>
            </a:r>
          </a:p>
          <a:p>
            <a:pPr>
              <a:lnSpc>
                <a:spcPct val="102000"/>
              </a:lnSpc>
              <a:spcAft>
                <a:spcPts val="14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Pay, then you're in.</a:t>
            </a:r>
            <a:r>
              <a:rPr sz="1450" b="0">
                <a:solidFill>
                  <a:srgbClr val="5B6666"/>
                </a:solidFill>
                <a:latin typeface="Segoe UI"/>
              </a:rPr>
              <a:t>  Stripe card payment confirms the spot; cash handled at the desk on-site.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MODULE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Instant QR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6</a:t>
            </a:r>
          </a:p>
        </p:txBody>
      </p:sp>
      <p:pic>
        <p:nvPicPr>
          <p:cNvPr id="9" name="Picture 8" descr="01b-confi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474" y="1417320"/>
            <a:ext cx="4359530" cy="475488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943600" y="1828800"/>
            <a:ext cx="5577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Emailed the moment payment clears.</a:t>
            </a:r>
            <a:r>
              <a:rPr sz="1500" b="0">
                <a:solidFill>
                  <a:srgbClr val="5B6666"/>
                </a:solidFill>
                <a:latin typeface="Segoe UI"/>
              </a:rPr>
              <a:t>  No waiting for a staff member to send anything.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Unique camp ID per attendee.</a:t>
            </a:r>
            <a:r>
              <a:rPr sz="1500" b="0">
                <a:solidFill>
                  <a:srgbClr val="5B6666"/>
                </a:solidFill>
                <a:latin typeface="Segoe UI"/>
              </a:rPr>
              <a:t>  Format MC-YYYY·season·number, e.g. MC-2027S-0001.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Scannable QR badge.</a:t>
            </a:r>
            <a:r>
              <a:rPr sz="1500" b="0">
                <a:solidFill>
                  <a:srgbClr val="5B6666"/>
                </a:solidFill>
                <a:latin typeface="Segoe UI"/>
              </a:rPr>
              <a:t>  Bring it on a phone or printed — it's the check-in key.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Service dots at a glance.</a:t>
            </a:r>
            <a:r>
              <a:rPr sz="1500" b="0">
                <a:solidFill>
                  <a:srgbClr val="5B6666"/>
                </a:solidFill>
                <a:latin typeface="Segoe UI"/>
              </a:rPr>
              <a:t>  Color tags show exactly what was paid for.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MODULE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Check-In &amp; Badge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7</a:t>
            </a:r>
          </a:p>
        </p:txBody>
      </p:sp>
      <p:pic>
        <p:nvPicPr>
          <p:cNvPr id="9" name="Picture 8" descr="02-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16" y="1554480"/>
            <a:ext cx="3460407" cy="292608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pic>
        <p:nvPicPr>
          <p:cNvPr id="10" name="Picture 9" descr="02b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628" y="3657600"/>
            <a:ext cx="1659383" cy="265176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937760" y="16002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Scan the QR, or type the camp ID.</a:t>
            </a:r>
            <a:r>
              <a:rPr sz="1500" b="0">
                <a:solidFill>
                  <a:srgbClr val="5B6666"/>
                </a:solidFill>
                <a:latin typeface="Segoe UI"/>
              </a:rPr>
              <a:t>  Camera scan at the desk; manual lookup as a fallback.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Digital waiver gate.</a:t>
            </a:r>
            <a:r>
              <a:rPr sz="1500" b="0">
                <a:solidFill>
                  <a:srgbClr val="5B6666"/>
                </a:solidFill>
                <a:latin typeface="Segoe UI"/>
              </a:rPr>
              <a:t>  Check-in records consent before the patient enters the flow.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One-tap badge print.</a:t>
            </a:r>
            <a:r>
              <a:rPr sz="1500" b="0">
                <a:solidFill>
                  <a:srgbClr val="5B6666"/>
                </a:solidFill>
                <a:latin typeface="Segoe UI"/>
              </a:rPr>
              <a:t>  Sends to the shared WiFi label printer from any phone.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The badge is the wayfinding tool.</a:t>
            </a:r>
            <a:r>
              <a:rPr sz="1500" b="0">
                <a:solidFill>
                  <a:srgbClr val="5B6666"/>
                </a:solidFill>
                <a:latin typeface="Segoe UI"/>
              </a:rPr>
              <a:t>  QR + service color-dots + a checklist of stations to visit.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MODULE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Station Queue — the routing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8</a:t>
            </a:r>
          </a:p>
        </p:txBody>
      </p:sp>
      <p:pic>
        <p:nvPicPr>
          <p:cNvPr id="9" name="Picture 8" descr="03-station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095" y="1417320"/>
            <a:ext cx="2312449" cy="480060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937760" y="1600200"/>
            <a:ext cx="6583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A focused queue per station.</a:t>
            </a:r>
            <a:r>
              <a:rPr sz="1450" b="0">
                <a:solidFill>
                  <a:srgbClr val="5B6666"/>
                </a:solidFill>
                <a:latin typeface="Segoe UI"/>
              </a:rPr>
              <a:t>  Volunteer sees only their station: who's waiting, who's in progress.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Start → Done → next.</a:t>
            </a:r>
            <a:r>
              <a:rPr sz="1450" b="0">
                <a:solidFill>
                  <a:srgbClr val="5B6666"/>
                </a:solidFill>
                <a:latin typeface="Segoe UI"/>
              </a:rPr>
              <a:t>  Big tap targets move patients along and route them to the next stop.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Doctors add services on the spot.</a:t>
            </a:r>
            <a:r>
              <a:rPr sz="1450" b="0">
                <a:solidFill>
                  <a:srgbClr val="5B6666"/>
                </a:solidFill>
                <a:latin typeface="Segoe UI"/>
              </a:rPr>
              <a:t>  “+ Add service” flags the patient and reroutes after payment.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Payment alerts inline.</a:t>
            </a:r>
            <a:r>
              <a:rPr sz="1450" b="0">
                <a:solidFill>
                  <a:srgbClr val="5B6666"/>
                </a:solidFill>
                <a:latin typeface="Segoe UI"/>
              </a:rPr>
              <a:t>  A red “needs payment” badge shows before the patient moves on.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Works on the volunteer's own phone.</a:t>
            </a:r>
            <a:r>
              <a:rPr sz="1450" b="0">
                <a:solidFill>
                  <a:srgbClr val="5B6666"/>
                </a:solidFill>
                <a:latin typeface="Segoe UI"/>
              </a:rPr>
              <a:t>  No special hardware required at any station.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Coordinator Dashboard — the god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9</a:t>
            </a:r>
          </a:p>
        </p:txBody>
      </p:sp>
      <p:pic>
        <p:nvPicPr>
          <p:cNvPr id="9" name="Picture 8" descr="04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705" y="1371600"/>
            <a:ext cx="4148189" cy="489204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760720" y="155448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Whole camp at a glance.</a:t>
            </a:r>
            <a:r>
              <a:rPr sz="1450" b="0">
                <a:solidFill>
                  <a:srgbClr val="5B6666"/>
                </a:solidFill>
                <a:latin typeface="Segoe UI"/>
              </a:rPr>
              <a:t>  Registered, checked-in, in-flight, completed, needs-payment — live.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Bottleneck detection.</a:t>
            </a:r>
            <a:r>
              <a:rPr sz="1450" b="0">
                <a:solidFill>
                  <a:srgbClr val="5B6666"/>
                </a:solidFill>
                <a:latin typeface="Segoe UI"/>
              </a:rPr>
              <a:t>  A station that's backing up is flagged red so help can be moved.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Money reconciled in real time.</a:t>
            </a:r>
            <a:r>
              <a:rPr sz="1450" b="0">
                <a:solidFill>
                  <a:srgbClr val="5B6666"/>
                </a:solidFill>
                <a:latin typeface="Segoe UI"/>
              </a:rPr>
              <a:t>  Stripe vs cash totals, plus add-ons still awaiting payment.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Treasurer's export.</a:t>
            </a:r>
            <a:r>
              <a:rPr sz="1450" b="0">
                <a:solidFill>
                  <a:srgbClr val="5B6666"/>
                </a:solidFill>
                <a:latin typeface="Segoe UI"/>
              </a:rPr>
              <a:t>  One click for the reconciliation CSV.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50" b="1">
                <a:solidFill>
                  <a:srgbClr val="16201F"/>
                </a:solidFill>
                <a:latin typeface="Segoe UI"/>
              </a:rPr>
              <a:t>Auto-refreshes every 10 seconds.</a:t>
            </a:r>
            <a:r>
              <a:rPr sz="1450" b="0">
                <a:solidFill>
                  <a:srgbClr val="5B6666"/>
                </a:solidFill>
                <a:latin typeface="Segoe UI"/>
              </a:rPr>
              <a:t>  Readable on a phone, expands on a TV display.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Configuration over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10</a:t>
            </a:r>
          </a:p>
        </p:txBody>
      </p:sp>
      <p:pic>
        <p:nvPicPr>
          <p:cNvPr id="9" name="Picture 8" descr="06-camp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5729" y="1417320"/>
            <a:ext cx="3597940" cy="224028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pic>
        <p:nvPicPr>
          <p:cNvPr id="10" name="Picture 9" descr="06b-services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0007" y="3794760"/>
            <a:ext cx="4109385" cy="246888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309360" y="16002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00" b="1">
                <a:solidFill>
                  <a:srgbClr val="16201F"/>
                </a:solidFill>
                <a:latin typeface="Segoe UI"/>
              </a:rPr>
              <a:t>Coordinators set up camps — no developer.</a:t>
            </a:r>
            <a:r>
              <a:rPr sz="1400" b="0">
                <a:solidFill>
                  <a:srgbClr val="5B6666"/>
                </a:solidFill>
                <a:latin typeface="Segoe UI"/>
              </a:rPr>
              <a:t>  Services, prices, capacity caps, stations and volunteer roles are all settings.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00" b="1">
                <a:solidFill>
                  <a:srgbClr val="16201F"/>
                </a:solidFill>
                <a:latin typeface="Segoe UI"/>
              </a:rPr>
              <a:t>Shared service menu, per-camp caps.</a:t>
            </a:r>
            <a:r>
              <a:rPr sz="1400" b="0">
                <a:solidFill>
                  <a:srgbClr val="5B6666"/>
                </a:solidFill>
                <a:latin typeface="Segoe UI"/>
              </a:rPr>
              <a:t>  Edit a service once; set how many seats this camp sells.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00" b="1">
                <a:solidFill>
                  <a:srgbClr val="16201F"/>
                </a:solidFill>
                <a:latin typeface="Segoe UI"/>
              </a:rPr>
              <a:t>Color = the badge dot.</a:t>
            </a:r>
            <a:r>
              <a:rPr sz="1400" b="0">
                <a:solidFill>
                  <a:srgbClr val="5B6666"/>
                </a:solidFill>
                <a:latin typeface="Segoe UI"/>
              </a:rPr>
              <a:t>  The color you pick here is what volunteers see on badges and queues.</a:t>
            </a:r>
          </a:p>
          <a:p>
            <a:pPr>
              <a:lnSpc>
                <a:spcPct val="102000"/>
              </a:lnSpc>
              <a:spcAft>
                <a:spcPts val="1300"/>
              </a:spcAft>
            </a:pPr>
            <a:r>
              <a:rPr sz="15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500" b="1">
                <a:solidFill>
                  <a:srgbClr val="16201F"/>
                </a:solidFill>
                <a:latin typeface="Segoe UI"/>
              </a:rPr>
              <a:t>Lifecycle with a built-in purge.</a:t>
            </a:r>
            <a:r>
              <a:rPr sz="1400" b="0">
                <a:solidFill>
                  <a:srgbClr val="5B6666"/>
                </a:solidFill>
                <a:latin typeface="Segoe UI"/>
              </a:rPr>
              <a:t>  Draft → Open → Active → Closed → Purged removes patient data after the camp.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MODULE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Volunteer Module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11</a:t>
            </a:r>
          </a:p>
        </p:txBody>
      </p:sp>
      <p:pic>
        <p:nvPicPr>
          <p:cNvPr id="9" name="Picture 8" descr="09-volunteer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3579" cy="489204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pic>
        <p:nvPicPr>
          <p:cNvPr id="10" name="Picture 9" descr="09b-volunteers-r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226" y="1783080"/>
            <a:ext cx="3910746" cy="4023360"/>
          </a:xfrm>
          <a:prstGeom prst="rect">
            <a:avLst/>
          </a:prstGeom>
          <a:ln w="9525">
            <a:solidFill>
              <a:srgbClr val="D7DEDD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092440" y="1554480"/>
            <a:ext cx="3611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350" b="1">
                <a:solidFill>
                  <a:srgbClr val="16201F"/>
                </a:solidFill>
                <a:latin typeface="Segoe UI"/>
              </a:rPr>
              <a:t>Self-serve signup.</a:t>
            </a:r>
            <a:r>
              <a:rPr sz="1250" b="0">
                <a:solidFill>
                  <a:srgbClr val="5B6666"/>
                </a:solidFill>
                <a:latin typeface="Segoe UI"/>
              </a:rPr>
              <a:t>  Roles with capacity, age limits, and shifts.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350" b="1">
                <a:solidFill>
                  <a:srgbClr val="16201F"/>
                </a:solidFill>
                <a:latin typeface="Segoe UI"/>
              </a:rPr>
              <a:t>Student service hours.</a:t>
            </a:r>
            <a:r>
              <a:rPr sz="1250" b="0">
                <a:solidFill>
                  <a:srgbClr val="5B6666"/>
                </a:solidFill>
                <a:latin typeface="Segoe UI"/>
              </a:rPr>
              <a:t>  Captures school + counselor to verify hours.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350" b="1">
                <a:solidFill>
                  <a:srgbClr val="16201F"/>
                </a:solidFill>
                <a:latin typeface="Segoe UI"/>
              </a:rPr>
              <a:t>Live staffing view.</a:t>
            </a:r>
            <a:r>
              <a:rPr sz="1250" b="0">
                <a:solidFill>
                  <a:srgbClr val="5B6666"/>
                </a:solidFill>
                <a:latin typeface="Segoe UI"/>
              </a:rPr>
              <a:t>  Understaffed roles flagged for the coordinator.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350" b="1">
                <a:solidFill>
                  <a:srgbClr val="16201F"/>
                </a:solidFill>
                <a:latin typeface="Segoe UI"/>
              </a:rPr>
              <a:t>Day-of QR sign in/out.</a:t>
            </a:r>
            <a:r>
              <a:rPr sz="1250" b="0">
                <a:solidFill>
                  <a:srgbClr val="5B6666"/>
                </a:solidFill>
                <a:latin typeface="Segoe UI"/>
              </a:rPr>
              <a:t>  Tracks hours automatically.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350" b="1">
                <a:solidFill>
                  <a:srgbClr val="16201F"/>
                </a:solidFill>
                <a:latin typeface="Segoe UI"/>
              </a:rPr>
              <a:t>Reminders &amp; certificates.</a:t>
            </a:r>
            <a:r>
              <a:rPr sz="1250" b="0">
                <a:solidFill>
                  <a:srgbClr val="5B6666"/>
                </a:solidFill>
                <a:latin typeface="Segoe UI"/>
              </a:rPr>
              <a:t>  24–48h nudge; certificates after.</a:t>
            </a:r>
          </a:p>
          <a:p>
            <a:pPr>
              <a:lnSpc>
                <a:spcPct val="102000"/>
              </a:lnSpc>
              <a:spcAft>
                <a:spcPts val="900"/>
              </a:spcAft>
            </a:pPr>
            <a:r>
              <a:rPr sz="1350" b="1">
                <a:solidFill>
                  <a:srgbClr val="0D6E6E"/>
                </a:solidFill>
                <a:latin typeface="Segoe UI"/>
              </a:rPr>
              <a:t>▸  </a:t>
            </a:r>
            <a:r>
              <a:rPr sz="1350" b="1">
                <a:solidFill>
                  <a:srgbClr val="16201F"/>
                </a:solidFill>
                <a:latin typeface="Segoe UI"/>
              </a:rPr>
              <a:t>Privacy-safe.</a:t>
            </a:r>
            <a:r>
              <a:rPr sz="1250" b="0">
                <a:solidFill>
                  <a:srgbClr val="5B6666"/>
                </a:solidFill>
                <a:latin typeface="Segoe UI"/>
              </a:rPr>
              <a:t>  Age band only — never a date of birth.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Privacy &amp; safeguards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5349240" cy="2148840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109728" cy="214884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17830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94F4F"/>
                </a:solidFill>
                <a:latin typeface="Segoe UI"/>
              </a:rPr>
              <a:t>No medical records. Ever.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2423160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01F"/>
                </a:solidFill>
                <a:latin typeface="Segoe UI"/>
              </a:rPr>
              <a:t>We store name, phone, and the services paid for — nothing clinical. No diagnoses, results, or insurance data.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349240" cy="2148840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54480"/>
            <a:ext cx="109728" cy="214884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94F4F"/>
                </a:solidFill>
                <a:latin typeface="Segoe UI"/>
              </a:rPr>
              <a:t>Data purged after each camp.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23160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01F"/>
                </a:solidFill>
                <a:latin typeface="Segoe UI"/>
              </a:rPr>
              <a:t>Patient records are camp-scoped and removed when the camp closes — enforced by the camp lifecycle.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5349240" cy="2148840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931920"/>
            <a:ext cx="109728" cy="214884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1605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94F4F"/>
                </a:solidFill>
                <a:latin typeface="Segoe UI"/>
              </a:rPr>
              <a:t>Role-based access.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4800600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01F"/>
                </a:solidFill>
                <a:latin typeface="Segoe UI"/>
              </a:rPr>
              <a:t>Nine roles, from coordinator to station volunteer. People see only what their job needs.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931920"/>
            <a:ext cx="5349240" cy="2148840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931920"/>
            <a:ext cx="109728" cy="214884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4846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094F4F"/>
                </a:solidFill>
                <a:latin typeface="Segoe UI"/>
              </a:rPr>
              <a:t>Cash handled safely.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800600"/>
            <a:ext cx="4892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6201F"/>
                </a:solidFill>
                <a:latin typeface="Segoe UI"/>
              </a:rPr>
              <a:t>Only assigned till-holders see the cash option; everyone else is Stripe-only. Cash is reconciled separately.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27432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UNDER THE 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3192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 i="0">
                <a:solidFill>
                  <a:srgbClr val="16201F"/>
                </a:solidFill>
                <a:latin typeface="Segoe UI"/>
              </a:rPr>
              <a:t>Built to last — and already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dcica platform · committee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666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Modern, proven stack.</a:t>
            </a:r>
            <a:r>
              <a:rPr sz="1500" b="0">
                <a:solidFill>
                  <a:srgbClr val="5B6666"/>
                </a:solidFill>
                <a:latin typeface="Segoe UI"/>
              </a:rPr>
              <a:t>  Next.js web app, PostgreSQL database, hosted on Vercel.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Stripe for payments.</a:t>
            </a:r>
            <a:r>
              <a:rPr sz="1500" b="0">
                <a:solidFill>
                  <a:srgbClr val="5B6666"/>
                </a:solidFill>
                <a:latin typeface="Segoe UI"/>
              </a:rPr>
              <a:t>  Card online and on-site; each org connects its own account.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Open source (AGPL-3.0).</a:t>
            </a:r>
            <a:r>
              <a:rPr sz="1500" b="0">
                <a:solidFill>
                  <a:srgbClr val="5B6666"/>
                </a:solidFill>
                <a:latin typeface="Segoe UI"/>
              </a:rPr>
              <a:t>  Self-hostable; no vendor lock-in; reusable by other non-profits.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Multi-tenant ready.</a:t>
            </a:r>
            <a:r>
              <a:rPr sz="1500" b="0">
                <a:solidFill>
                  <a:srgbClr val="5B6666"/>
                </a:solidFill>
                <a:latin typeface="Segoe UI"/>
              </a:rPr>
              <a:t>  dcica is the first org; the platform is built to host more.</a:t>
            </a:r>
          </a:p>
          <a:p>
            <a:pPr>
              <a:lnSpc>
                <a:spcPct val="102000"/>
              </a:lnSpc>
              <a:spcAft>
                <a:spcPts val="1500"/>
              </a:spcAft>
            </a:pPr>
            <a:r>
              <a:rPr sz="1600" b="1">
                <a:solidFill>
                  <a:srgbClr val="0D6E6E"/>
                </a:solidFill>
                <a:latin typeface="Segoe UI"/>
              </a:rPr>
              <a:t>▸  </a:t>
            </a:r>
            <a:r>
              <a:rPr sz="1600" b="1">
                <a:solidFill>
                  <a:srgbClr val="16201F"/>
                </a:solidFill>
                <a:latin typeface="Segoe UI"/>
              </a:rPr>
              <a:t>Secure sign-in.</a:t>
            </a:r>
            <a:r>
              <a:rPr sz="1500" b="0">
                <a:solidFill>
                  <a:srgbClr val="5B6666"/>
                </a:solidFill>
                <a:latin typeface="Segoe UI"/>
              </a:rPr>
              <a:t>  Google / Microsoft / GitHub login with tenant-scoped roles.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1554480"/>
            <a:ext cx="4983480" cy="27432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1828800"/>
            <a:ext cx="4389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BFE3E0"/>
                </a:solidFill>
                <a:latin typeface="Segoe UI"/>
              </a:rPr>
              <a:t>LIVE TEST 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33172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medcamp-sigma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Segoe UI"/>
              </a:rPr>
              <a:t>.vercel.app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429000"/>
            <a:ext cx="4389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7F3F1"/>
                </a:solidFill>
                <a:latin typeface="Segoe UI"/>
              </a:rPr>
              <a:t>Running now with seeded demo data — every screen in this deck is real, not a mockup.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4526280"/>
            <a:ext cx="4983480" cy="1600200"/>
          </a:xfrm>
          <a:prstGeom prst="rect">
            <a:avLst/>
          </a:prstGeom>
          <a:solidFill>
            <a:srgbClr val="F1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70916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D6E6E"/>
                </a:solidFill>
                <a:latin typeface="Segoe UI"/>
              </a:rPr>
              <a:t>COST POSTURE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074920"/>
            <a:ext cx="44805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16201F"/>
                </a:solidFill>
                <a:latin typeface="Segoe UI"/>
              </a:rPr>
              <a:t>Free-tier hosting today. Non-profit Stripe rate at go-live. No per-seat licensing.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94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FE3E0"/>
                </a:solidFill>
                <a:latin typeface="Segoe UI"/>
              </a:rPr>
              <a:t>WHAT WE'D LIKE FROM THE COMMITTEE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Next steps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36829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286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Try it.</a:t>
            </a:r>
            <a:r>
              <a:rPr sz="1600" b="0" i="0">
                <a:solidFill>
                  <a:srgbClr val="D9ECEA"/>
                </a:solidFill>
                <a:latin typeface="Segoe UI"/>
              </a:rPr>
              <a:t>   Open the live link and run a registration end-to-end.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118103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035808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Confirm the service menu &amp; prices.</a:t>
            </a:r>
            <a:r>
              <a:rPr sz="1600" b="0" i="0">
                <a:solidFill>
                  <a:srgbClr val="D9ECEA"/>
                </a:solidFill>
                <a:latin typeface="Segoe UI"/>
              </a:rPr>
              <a:t>   So we can lock capacity caps for the next camp.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67911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785615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Name the coordinators &amp; till-holders.</a:t>
            </a:r>
            <a:r>
              <a:rPr sz="1600" b="0" i="0">
                <a:solidFill>
                  <a:srgbClr val="D9ECEA"/>
                </a:solidFill>
                <a:latin typeface="Segoe UI"/>
              </a:rPr>
              <a:t>   We assign roles before camp day.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61772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4535424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Green-light modules 5–8.</a:t>
            </a:r>
            <a:r>
              <a:rPr sz="1600" b="0" i="0">
                <a:solidFill>
                  <a:srgbClr val="D9ECEA"/>
                </a:solidFill>
                <a:latin typeface="Segoe UI"/>
              </a:rPr>
              <a:t>   Supply calculator, checklist, lab tracking, venue config.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67528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528523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Segoe UI"/>
              </a:rPr>
              <a:t>Approve go-live items.</a:t>
            </a:r>
            <a:r>
              <a:rPr sz="1600" b="0" i="0">
                <a:solidFill>
                  <a:srgbClr val="D9ECEA"/>
                </a:solidFill>
                <a:latin typeface="Segoe UI"/>
              </a:rPr>
              <a:t>   Live Stripe keys + non-profit rate, and a custom domain.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172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1">
                <a:solidFill>
                  <a:srgbClr val="BFE3E0"/>
                </a:solidFill>
                <a:latin typeface="Segoe UI"/>
              </a:rPr>
              <a:t>dcica platform · medcamp-sigma.vercel.app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